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
  </p:notesMasterIdLst>
  <p:sldIdLst>
    <p:sldId id="260" r:id="rId2"/>
    <p:sldId id="261" r:id="rId3"/>
    <p:sldId id="262" r:id="rId4"/>
    <p:sldId id="263" r:id="rId5"/>
    <p:sldId id="264" r:id="rId6"/>
    <p:sldId id="265" r:id="rId7"/>
    <p:sldId id="266"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B736126-433D-4E27-8CA2-964397748075}">
          <p14:sldIdLst>
            <p14:sldId id="260"/>
            <p14:sldId id="261"/>
            <p14:sldId id="262"/>
            <p14:sldId id="263"/>
            <p14:sldId id="264"/>
            <p14:sldId id="265"/>
            <p14:sldId id="26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8B00B-2615-DA7F-16DD-BEDBD145F26F}" v="169" dt="2026-06-22T15:38:36.746"/>
    <p1510:client id="{BA9E5608-3EA5-4EB9-B58B-23EA90833BA8}" v="3" dt="2026-06-22T16:38:41.075"/>
    <p1510:client id="{ECBCC7A4-2B2E-30B8-636B-1ED04629B37E}" v="53" dt="2026-06-22T16:20:29.6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5/10/relationships/revisionInfo" Target="revisionInfo.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5T16:24:39.144"/>
    </inkml:context>
    <inkml:brush xml:id="br0">
      <inkml:brushProperty name="width" value="0.035" units="cm"/>
      <inkml:brushProperty name="height" value="0.035" units="cm"/>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AFE299-D31D-47C2-B46C-C3B1749D6A86}" type="datetimeFigureOut">
              <a:rPr lang="en-US" smtClean="0"/>
              <a:t>6/22/2026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BF2809-F272-465C-B573-2DAF6CD206A2}" type="slidenum">
              <a:rPr lang="en-US" smtClean="0"/>
              <a:t>‹#›</a:t>
            </a:fld>
            <a:endParaRPr lang="en-US"/>
          </a:p>
        </p:txBody>
      </p:sp>
    </p:spTree>
    <p:extLst>
      <p:ext uri="{BB962C8B-B14F-4D97-AF65-F5344CB8AC3E}">
        <p14:creationId xmlns:p14="http://schemas.microsoft.com/office/powerpoint/2010/main" val="2544104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After third debugging, say the “those are my 3” joke</a:t>
            </a:r>
          </a:p>
        </p:txBody>
      </p:sp>
      <p:sp>
        <p:nvSpPr>
          <p:cNvPr id="4" name="Slide Number Placeholder 3"/>
          <p:cNvSpPr>
            <a:spLocks noGrp="1"/>
          </p:cNvSpPr>
          <p:nvPr>
            <p:ph type="sldNum" sz="quarter" idx="5"/>
          </p:nvPr>
        </p:nvSpPr>
        <p:spPr/>
        <p:txBody>
          <a:bodyPr/>
          <a:lstStyle/>
          <a:p>
            <a:fld id="{4BBF2809-F272-465C-B573-2DAF6CD206A2}" type="slidenum">
              <a:rPr lang="en-US" smtClean="0"/>
              <a:t>2</a:t>
            </a:fld>
            <a:endParaRPr lang="en-US"/>
          </a:p>
        </p:txBody>
      </p:sp>
    </p:spTree>
    <p:extLst>
      <p:ext uri="{BB962C8B-B14F-4D97-AF65-F5344CB8AC3E}">
        <p14:creationId xmlns:p14="http://schemas.microsoft.com/office/powerpoint/2010/main" val="1177785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“who am you”, explain the whole “the questions where in first person”</a:t>
            </a:r>
          </a:p>
          <a:p>
            <a:endParaRPr lang="en-US"/>
          </a:p>
          <a:p>
            <a:r>
              <a:rPr lang="en-US"/>
              <a:t>Explain reason chose </a:t>
            </a:r>
            <a:r>
              <a:rPr lang="en-US" err="1"/>
              <a:t>shipchannel</a:t>
            </a:r>
            <a:r>
              <a:rPr lang="en-US"/>
              <a:t>?</a:t>
            </a:r>
          </a:p>
        </p:txBody>
      </p:sp>
      <p:sp>
        <p:nvSpPr>
          <p:cNvPr id="4" name="Slide Number Placeholder 3"/>
          <p:cNvSpPr>
            <a:spLocks noGrp="1"/>
          </p:cNvSpPr>
          <p:nvPr>
            <p:ph type="sldNum" sz="quarter" idx="5"/>
          </p:nvPr>
        </p:nvSpPr>
        <p:spPr/>
        <p:txBody>
          <a:bodyPr/>
          <a:lstStyle/>
          <a:p>
            <a:fld id="{4BBF2809-F272-465C-B573-2DAF6CD206A2}" type="slidenum">
              <a:rPr lang="en-US" smtClean="0"/>
              <a:t>3</a:t>
            </a:fld>
            <a:endParaRPr lang="en-US"/>
          </a:p>
        </p:txBody>
      </p:sp>
    </p:spTree>
    <p:extLst>
      <p:ext uri="{BB962C8B-B14F-4D97-AF65-F5344CB8AC3E}">
        <p14:creationId xmlns:p14="http://schemas.microsoft.com/office/powerpoint/2010/main" val="2187439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More </a:t>
            </a:r>
            <a:r>
              <a:rPr lang="en-US" err="1"/>
              <a:t>deltais</a:t>
            </a:r>
            <a:r>
              <a:rPr lang="en-US"/>
              <a:t> on discussions?</a:t>
            </a:r>
          </a:p>
        </p:txBody>
      </p:sp>
      <p:sp>
        <p:nvSpPr>
          <p:cNvPr id="4" name="Slide Number Placeholder 3"/>
          <p:cNvSpPr>
            <a:spLocks noGrp="1"/>
          </p:cNvSpPr>
          <p:nvPr>
            <p:ph type="sldNum" sz="quarter" idx="5"/>
          </p:nvPr>
        </p:nvSpPr>
        <p:spPr/>
        <p:txBody>
          <a:bodyPr/>
          <a:lstStyle/>
          <a:p>
            <a:fld id="{4BBF2809-F272-465C-B573-2DAF6CD206A2}" type="slidenum">
              <a:rPr lang="en-US" smtClean="0"/>
              <a:t>4</a:t>
            </a:fld>
            <a:endParaRPr lang="en-US"/>
          </a:p>
        </p:txBody>
      </p:sp>
    </p:spTree>
    <p:extLst>
      <p:ext uri="{BB962C8B-B14F-4D97-AF65-F5344CB8AC3E}">
        <p14:creationId xmlns:p14="http://schemas.microsoft.com/office/powerpoint/2010/main" val="38252435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7909561" y="4314328"/>
            <a:ext cx="2910840" cy="374642"/>
          </a:xfrm>
        </p:spPr>
        <p:txBody>
          <a:body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264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173546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871263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1519847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001F3D3-B64E-45E5-A774-FFEE7077F3D9}" type="datetimeFigureOut">
              <a:rPr lang="en-US" smtClean="0"/>
              <a:t>6/22/2026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42732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001F3D3-B64E-45E5-A774-FFEE7077F3D9}"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017964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01F3D3-B64E-45E5-A774-FFEE7077F3D9}" type="datetimeFigureOut">
              <a:rPr lang="en-US" smtClean="0"/>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26328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p>
        </p:txBody>
      </p:sp>
      <p:sp>
        <p:nvSpPr>
          <p:cNvPr id="3" name="Content Placeholder 2"/>
          <p:cNvSpPr>
            <a:spLocks noGrp="1"/>
          </p:cNvSpPr>
          <p:nvPr>
            <p:ph idx="1"/>
          </p:nvPr>
        </p:nvSpPr>
        <p:spPr>
          <a:xfrm>
            <a:off x="4995582" y="746759"/>
            <a:ext cx="6510618" cy="5471925"/>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99341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837617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827702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5142669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89117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8005352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33895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40062124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4336484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8696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001F3D3-B64E-45E5-A774-FFEE7077F3D9}" type="datetimeFigureOut">
              <a:rPr lang="en-US" smtClean="0"/>
              <a:t>6/22/2026</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7D21221-C6A6-4006-A191-9AD020835639}" type="slidenum">
              <a:rPr lang="en-US" smtClean="0"/>
              <a:t>‹#›</a:t>
            </a:fld>
            <a:endParaRPr lang="en-US"/>
          </a:p>
        </p:txBody>
      </p:sp>
    </p:spTree>
    <p:extLst>
      <p:ext uri="{BB962C8B-B14F-4D97-AF65-F5344CB8AC3E}">
        <p14:creationId xmlns:p14="http://schemas.microsoft.com/office/powerpoint/2010/main" val="254159640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customXml" Target="../ink/ink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71FAF-C6B0-38AC-9F95-1D6B0F02C1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67BC7-8656-F7ED-1039-66F678C88F45}"/>
              </a:ext>
            </a:extLst>
          </p:cNvPr>
          <p:cNvSpPr>
            <a:spLocks noGrp="1"/>
          </p:cNvSpPr>
          <p:nvPr>
            <p:ph type="ctrTitle"/>
          </p:nvPr>
        </p:nvSpPr>
        <p:spPr>
          <a:xfrm>
            <a:off x="1524000" y="1771649"/>
            <a:ext cx="9144000" cy="1738313"/>
          </a:xfrm>
        </p:spPr>
        <p:txBody>
          <a:bodyPr>
            <a:normAutofit fontScale="90000"/>
          </a:bodyPr>
          <a:lstStyle/>
          <a:p>
            <a:r>
              <a:rPr lang="en-US"/>
              <a:t>Charlie’s</a:t>
            </a:r>
            <a:br>
              <a:rPr lang="en-US"/>
            </a:br>
            <a:r>
              <a:rPr lang="en-US"/>
              <a:t>Spring Term Presentation</a:t>
            </a:r>
          </a:p>
        </p:txBody>
      </p:sp>
      <p:sp>
        <p:nvSpPr>
          <p:cNvPr id="8" name="Subtitle 2">
            <a:extLst>
              <a:ext uri="{FF2B5EF4-FFF2-40B4-BE49-F238E27FC236}">
                <a16:creationId xmlns:a16="http://schemas.microsoft.com/office/drawing/2014/main" id="{3A43815D-8181-84B3-7647-DDD66602B421}"/>
              </a:ext>
            </a:extLst>
          </p:cNvPr>
          <p:cNvSpPr txBox="1">
            <a:spLocks/>
          </p:cNvSpPr>
          <p:nvPr/>
        </p:nvSpPr>
        <p:spPr>
          <a:xfrm>
            <a:off x="5076728" y="4032504"/>
            <a:ext cx="1167384"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t>Charlie</a:t>
            </a:r>
          </a:p>
        </p:txBody>
      </p:sp>
      <p:sp>
        <p:nvSpPr>
          <p:cNvPr id="10" name="Subtitle 2">
            <a:extLst>
              <a:ext uri="{FF2B5EF4-FFF2-40B4-BE49-F238E27FC236}">
                <a16:creationId xmlns:a16="http://schemas.microsoft.com/office/drawing/2014/main" id="{4AA1E5B6-F66B-5C77-EE50-BF9E9417468A}"/>
              </a:ext>
            </a:extLst>
          </p:cNvPr>
          <p:cNvSpPr txBox="1">
            <a:spLocks/>
          </p:cNvSpPr>
          <p:nvPr/>
        </p:nvSpPr>
        <p:spPr>
          <a:xfrm>
            <a:off x="6075904" y="4032504"/>
            <a:ext cx="1021080"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t>Hatch</a:t>
            </a:r>
          </a:p>
        </p:txBody>
      </p:sp>
      <p:sp>
        <p:nvSpPr>
          <p:cNvPr id="16" name="Subtitle 2">
            <a:extLst>
              <a:ext uri="{FF2B5EF4-FFF2-40B4-BE49-F238E27FC236}">
                <a16:creationId xmlns:a16="http://schemas.microsoft.com/office/drawing/2014/main" id="{80C038D9-E5C4-4AAC-F408-A2AC791A02D6}"/>
              </a:ext>
            </a:extLst>
          </p:cNvPr>
          <p:cNvSpPr txBox="1">
            <a:spLocks/>
          </p:cNvSpPr>
          <p:nvPr/>
        </p:nvSpPr>
        <p:spPr>
          <a:xfrm>
            <a:off x="5707948" y="3628503"/>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a:t>B</a:t>
            </a:r>
          </a:p>
        </p:txBody>
      </p:sp>
      <p:sp>
        <p:nvSpPr>
          <p:cNvPr id="17" name="Subtitle 2">
            <a:extLst>
              <a:ext uri="{FF2B5EF4-FFF2-40B4-BE49-F238E27FC236}">
                <a16:creationId xmlns:a16="http://schemas.microsoft.com/office/drawing/2014/main" id="{D77FA4EE-35F5-0F5A-3208-8DFF3CE03759}"/>
              </a:ext>
            </a:extLst>
          </p:cNvPr>
          <p:cNvSpPr txBox="1">
            <a:spLocks/>
          </p:cNvSpPr>
          <p:nvPr/>
        </p:nvSpPr>
        <p:spPr>
          <a:xfrm>
            <a:off x="5897312" y="3602038"/>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a:t>y</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871843D-0883-EB06-DA3D-9EBA602F3080}"/>
                  </a:ext>
                </a:extLst>
              </p14:cNvPr>
              <p14:cNvContentPartPr/>
              <p14:nvPr/>
            </p14:nvContentPartPr>
            <p14:xfrm>
              <a:off x="1133175" y="3095550"/>
              <a:ext cx="360" cy="360"/>
            </p14:xfrm>
          </p:contentPart>
        </mc:Choice>
        <mc:Fallback xmlns="">
          <p:pic>
            <p:nvPicPr>
              <p:cNvPr id="4" name="Ink 3">
                <a:extLst>
                  <a:ext uri="{FF2B5EF4-FFF2-40B4-BE49-F238E27FC236}">
                    <a16:creationId xmlns:a16="http://schemas.microsoft.com/office/drawing/2014/main" id="{B871843D-0883-EB06-DA3D-9EBA602F3080}"/>
                  </a:ext>
                </a:extLst>
              </p:cNvPr>
              <p:cNvPicPr/>
              <p:nvPr/>
            </p:nvPicPr>
            <p:blipFill>
              <a:blip r:embed="rId3"/>
              <a:stretch>
                <a:fillRect/>
              </a:stretch>
            </p:blipFill>
            <p:spPr>
              <a:xfrm>
                <a:off x="1127055" y="3089430"/>
                <a:ext cx="12600" cy="12600"/>
              </a:xfrm>
              <a:prstGeom prst="rect">
                <a:avLst/>
              </a:prstGeom>
            </p:spPr>
          </p:pic>
        </mc:Fallback>
      </mc:AlternateContent>
      <p:sp>
        <p:nvSpPr>
          <p:cNvPr id="11" name="Conector recto 10">
            <a:extLst>
              <a:ext uri="{FF2B5EF4-FFF2-40B4-BE49-F238E27FC236}">
                <a16:creationId xmlns:a16="http://schemas.microsoft.com/office/drawing/2014/main" id="{AD1FF79A-F404-4C13-8BEE-2D19D60C99B5}"/>
              </a:ext>
            </a:extLst>
          </p:cNvPr>
          <p:cNvSpPr/>
          <p:nvPr/>
        </p:nvSpPr>
        <p:spPr>
          <a:xfrm rot="6812815">
            <a:off x="85360" y="5232600"/>
            <a:ext cx="1097280" cy="0"/>
          </a:xfrm>
          <a:prstGeom prst="line">
            <a:avLst/>
          </a:prstGeom>
          <a:solidFill>
            <a:srgbClr val="000000">
              <a:alpha val="5000"/>
            </a:srgbClr>
          </a:solidFill>
          <a:ln w="12600">
            <a:solidFill>
              <a:schemeClr val="bg1"/>
            </a:solidFill>
          </a:ln>
        </p:spPr>
        <p:style>
          <a:lnRef idx="2">
            <a:schemeClr val="accent1"/>
          </a:lnRef>
          <a:fillRef idx="0">
            <a:schemeClr val="accent1"/>
          </a:fillRef>
          <a:effectRef idx="1">
            <a:schemeClr val="accent1"/>
          </a:effectRef>
          <a:fontRef idx="minor">
            <a:schemeClr val="tx1"/>
          </a:fontRef>
        </p:style>
        <p:txBody>
          <a:bodyPr wrap="none" rtlCol="0" anchor="ctr" anchorCtr="1"/>
          <a:lstStyle/>
          <a:p>
            <a:endParaRPr lang="en-US">
              <a:solidFill>
                <a:srgbClr val="000000"/>
              </a:solidFill>
            </a:endParaRPr>
          </a:p>
        </p:txBody>
      </p:sp>
    </p:spTree>
    <p:extLst>
      <p:ext uri="{BB962C8B-B14F-4D97-AF65-F5344CB8AC3E}">
        <p14:creationId xmlns:p14="http://schemas.microsoft.com/office/powerpoint/2010/main" val="33732811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70"/>
                                  </p:iterate>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2101"/>
                            </p:stCondLst>
                            <p:childTnLst>
                              <p:par>
                                <p:cTn id="8" presetID="1" presetClass="entr" presetSubtype="0" fill="hold" grpId="0" nodeType="afterEffect">
                                  <p:stCondLst>
                                    <p:cond delay="15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0" fill="hold">
                            <p:stCondLst>
                              <p:cond delay="2251"/>
                            </p:stCondLst>
                            <p:childTnLst>
                              <p:par>
                                <p:cTn id="11" presetID="2" presetClass="entr" presetSubtype="8" fill="hold" grpId="0" nodeType="after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1500" fill="hold"/>
                                        <p:tgtEl>
                                          <p:spTgt spid="10"/>
                                        </p:tgtEl>
                                        <p:attrNameLst>
                                          <p:attrName>ppt_x</p:attrName>
                                        </p:attrNameLst>
                                      </p:cBhvr>
                                      <p:tavLst>
                                        <p:tav tm="0">
                                          <p:val>
                                            <p:strVal val="0-#ppt_w/2"/>
                                          </p:val>
                                        </p:tav>
                                        <p:tav tm="100000">
                                          <p:val>
                                            <p:strVal val="#ppt_x"/>
                                          </p:val>
                                        </p:tav>
                                      </p:tavLst>
                                    </p:anim>
                                    <p:anim calcmode="lin" valueType="num">
                                      <p:cBhvr additive="base">
                                        <p:cTn id="14" dur="1500" fill="hold"/>
                                        <p:tgtEl>
                                          <p:spTgt spid="10"/>
                                        </p:tgtEl>
                                        <p:attrNameLst>
                                          <p:attrName>ppt_y</p:attrName>
                                        </p:attrNameLst>
                                      </p:cBhvr>
                                      <p:tavLst>
                                        <p:tav tm="0">
                                          <p:val>
                                            <p:strVal val="#ppt_y"/>
                                          </p:val>
                                        </p:tav>
                                        <p:tav tm="100000">
                                          <p:val>
                                            <p:strVal val="#ppt_y"/>
                                          </p:val>
                                        </p:tav>
                                      </p:tavLst>
                                    </p:anim>
                                  </p:childTnLst>
                                </p:cTn>
                              </p:par>
                              <p:par>
                                <p:cTn id="15" presetID="2" presetClass="entr" presetSubtype="2"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1500" fill="hold"/>
                                        <p:tgtEl>
                                          <p:spTgt spid="8"/>
                                        </p:tgtEl>
                                        <p:attrNameLst>
                                          <p:attrName>ppt_x</p:attrName>
                                        </p:attrNameLst>
                                      </p:cBhvr>
                                      <p:tavLst>
                                        <p:tav tm="0">
                                          <p:val>
                                            <p:strVal val="1+#ppt_w/2"/>
                                          </p:val>
                                        </p:tav>
                                        <p:tav tm="100000">
                                          <p:val>
                                            <p:strVal val="#ppt_x"/>
                                          </p:val>
                                        </p:tav>
                                      </p:tavLst>
                                    </p:anim>
                                    <p:anim calcmode="lin" valueType="num">
                                      <p:cBhvr additive="base">
                                        <p:cTn id="18" dur="1500" fill="hold"/>
                                        <p:tgtEl>
                                          <p:spTgt spid="8"/>
                                        </p:tgtEl>
                                        <p:attrNameLst>
                                          <p:attrName>ppt_y</p:attrName>
                                        </p:attrNameLst>
                                      </p:cBhvr>
                                      <p:tavLst>
                                        <p:tav tm="0">
                                          <p:val>
                                            <p:strVal val="#ppt_y"/>
                                          </p:val>
                                        </p:tav>
                                        <p:tav tm="100000">
                                          <p:val>
                                            <p:strVal val="#ppt_y"/>
                                          </p:val>
                                        </p:tav>
                                      </p:tavLst>
                                    </p:anim>
                                  </p:childTnLst>
                                </p:cTn>
                              </p:par>
                              <p:par>
                                <p:cTn id="19" presetID="2" presetClass="entr" presetSubtype="6"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1500" fill="hold"/>
                                        <p:tgtEl>
                                          <p:spTgt spid="16"/>
                                        </p:tgtEl>
                                        <p:attrNameLst>
                                          <p:attrName>ppt_x</p:attrName>
                                        </p:attrNameLst>
                                      </p:cBhvr>
                                      <p:tavLst>
                                        <p:tav tm="0">
                                          <p:val>
                                            <p:strVal val="1+#ppt_w/2"/>
                                          </p:val>
                                        </p:tav>
                                        <p:tav tm="100000">
                                          <p:val>
                                            <p:strVal val="#ppt_x"/>
                                          </p:val>
                                        </p:tav>
                                      </p:tavLst>
                                    </p:anim>
                                    <p:anim calcmode="lin" valueType="num">
                                      <p:cBhvr additive="base">
                                        <p:cTn id="22" dur="1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12"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1500" fill="hold"/>
                                        <p:tgtEl>
                                          <p:spTgt spid="17"/>
                                        </p:tgtEl>
                                        <p:attrNameLst>
                                          <p:attrName>ppt_x</p:attrName>
                                        </p:attrNameLst>
                                      </p:cBhvr>
                                      <p:tavLst>
                                        <p:tav tm="0">
                                          <p:val>
                                            <p:strVal val="0-#ppt_w/2"/>
                                          </p:val>
                                        </p:tav>
                                        <p:tav tm="100000">
                                          <p:val>
                                            <p:strVal val="#ppt_x"/>
                                          </p:val>
                                        </p:tav>
                                      </p:tavLst>
                                    </p:anim>
                                    <p:anim calcmode="lin" valueType="num">
                                      <p:cBhvr additive="base">
                                        <p:cTn id="26" dur="1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p:bldP spid="10" grpId="0"/>
      <p:bldP spid="16" grpId="0"/>
      <p:bldP spid="17" grpId="0"/>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E40B0-7AFB-B285-5066-7B441A27BF72}"/>
              </a:ext>
            </a:extLst>
          </p:cNvPr>
          <p:cNvSpPr>
            <a:spLocks noGrp="1"/>
          </p:cNvSpPr>
          <p:nvPr>
            <p:ph type="title"/>
          </p:nvPr>
        </p:nvSpPr>
        <p:spPr/>
        <p:txBody>
          <a:bodyPr/>
          <a:lstStyle/>
          <a:p>
            <a:r>
              <a:rPr lang="en-US"/>
              <a:t>Tech: Advanced app-dev</a:t>
            </a:r>
          </a:p>
        </p:txBody>
      </p:sp>
      <p:sp>
        <p:nvSpPr>
          <p:cNvPr id="3" name="Content Placeholder 2">
            <a:extLst>
              <a:ext uri="{FF2B5EF4-FFF2-40B4-BE49-F238E27FC236}">
                <a16:creationId xmlns:a16="http://schemas.microsoft.com/office/drawing/2014/main" id="{D4080C78-579B-6737-72DA-8EFC61A29CE1}"/>
              </a:ext>
            </a:extLst>
          </p:cNvPr>
          <p:cNvSpPr>
            <a:spLocks noGrp="1"/>
          </p:cNvSpPr>
          <p:nvPr>
            <p:ph idx="1"/>
          </p:nvPr>
        </p:nvSpPr>
        <p:spPr/>
        <p:txBody>
          <a:bodyPr>
            <a:normAutofit lnSpcReduction="10000"/>
          </a:bodyPr>
          <a:lstStyle/>
          <a:p>
            <a:r>
              <a:rPr lang="en-US"/>
              <a:t>We worked on two things in advanced </a:t>
            </a:r>
            <a:r>
              <a:rPr lang="en-US" err="1"/>
              <a:t>appdev</a:t>
            </a:r>
            <a:r>
              <a:rPr lang="en-US"/>
              <a:t>.</a:t>
            </a:r>
          </a:p>
          <a:p>
            <a:pPr lvl="1"/>
            <a:r>
              <a:rPr lang="en-US"/>
              <a:t>One of the projects we worked on was the Snack Shack</a:t>
            </a:r>
          </a:p>
          <a:p>
            <a:pPr lvl="2"/>
            <a:r>
              <a:rPr lang="en-US"/>
              <a:t>In actuality, the most major was, as discussed by Ryan, actually databases and SQL. But I figured you have heard about that from him</a:t>
            </a:r>
          </a:p>
          <a:p>
            <a:pPr lvl="1"/>
            <a:r>
              <a:rPr lang="en-US"/>
              <a:t>Tasks used:</a:t>
            </a:r>
          </a:p>
          <a:p>
            <a:pPr lvl="2"/>
            <a:r>
              <a:rPr lang="en-US"/>
              <a:t>Debugging</a:t>
            </a:r>
          </a:p>
          <a:p>
            <a:pPr lvl="3"/>
            <a:r>
              <a:rPr lang="en-US"/>
              <a:t>Debugging</a:t>
            </a:r>
          </a:p>
          <a:p>
            <a:pPr lvl="3"/>
            <a:r>
              <a:rPr lang="en-US"/>
              <a:t>Debugging</a:t>
            </a:r>
          </a:p>
          <a:p>
            <a:pPr marL="914400" lvl="2" indent="0">
              <a:buNone/>
            </a:pPr>
            <a:r>
              <a:rPr lang="en-US"/>
              <a:t>Okay, in all seriousness</a:t>
            </a:r>
          </a:p>
          <a:p>
            <a:pPr lvl="2"/>
            <a:r>
              <a:rPr lang="en-US"/>
              <a:t>Critical Thinking</a:t>
            </a:r>
          </a:p>
          <a:p>
            <a:pPr lvl="2"/>
            <a:r>
              <a:rPr lang="en-US"/>
              <a:t>Trial and Error</a:t>
            </a:r>
          </a:p>
          <a:p>
            <a:pPr lvl="2"/>
            <a:endParaRPr lang="en-US"/>
          </a:p>
          <a:p>
            <a:pPr marL="0" indent="0">
              <a:buNone/>
            </a:pPr>
            <a:r>
              <a:rPr lang="en-US"/>
              <a:t>As for what I gained, it’s mostly just more knowledge, in this case about SQL</a:t>
            </a:r>
          </a:p>
        </p:txBody>
      </p:sp>
    </p:spTree>
    <p:extLst>
      <p:ext uri="{BB962C8B-B14F-4D97-AF65-F5344CB8AC3E}">
        <p14:creationId xmlns:p14="http://schemas.microsoft.com/office/powerpoint/2010/main" val="1734690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85CBC-A8D3-D568-87AE-62116BA26CA4}"/>
              </a:ext>
            </a:extLst>
          </p:cNvPr>
          <p:cNvSpPr>
            <a:spLocks noGrp="1"/>
          </p:cNvSpPr>
          <p:nvPr>
            <p:ph type="title"/>
          </p:nvPr>
        </p:nvSpPr>
        <p:spPr/>
        <p:txBody>
          <a:bodyPr/>
          <a:lstStyle/>
          <a:p>
            <a:r>
              <a:rPr lang="en-US"/>
              <a:t>Core: Community</a:t>
            </a:r>
          </a:p>
        </p:txBody>
      </p:sp>
      <p:sp>
        <p:nvSpPr>
          <p:cNvPr id="3" name="Content Placeholder 2">
            <a:extLst>
              <a:ext uri="{FF2B5EF4-FFF2-40B4-BE49-F238E27FC236}">
                <a16:creationId xmlns:a16="http://schemas.microsoft.com/office/drawing/2014/main" id="{DE574F07-D8D0-C8B1-0C37-1C3C8D8A70F7}"/>
              </a:ext>
            </a:extLst>
          </p:cNvPr>
          <p:cNvSpPr>
            <a:spLocks noGrp="1"/>
          </p:cNvSpPr>
          <p:nvPr>
            <p:ph idx="1"/>
          </p:nvPr>
        </p:nvSpPr>
        <p:spPr/>
        <p:txBody>
          <a:bodyPr/>
          <a:lstStyle/>
          <a:p>
            <a:r>
              <a:rPr lang="en-US"/>
              <a:t>In community, we learned about, well, our community.</a:t>
            </a:r>
          </a:p>
          <a:p>
            <a:r>
              <a:rPr lang="en-US"/>
              <a:t>While not inherently a skill: </a:t>
            </a:r>
          </a:p>
          <a:p>
            <a:pPr lvl="1"/>
            <a:r>
              <a:rPr lang="en-US"/>
              <a:t>I learned more about the greater Houston area</a:t>
            </a:r>
          </a:p>
          <a:p>
            <a:pPr lvl="1"/>
            <a:r>
              <a:rPr lang="en-US"/>
              <a:t>I made a nice slideshow about Charlie Serbia called “who am you”</a:t>
            </a:r>
          </a:p>
          <a:p>
            <a:r>
              <a:rPr lang="en-US"/>
              <a:t>As for how I’d use it, well, it just helps to know what’s around you so you can actually do things. Basically, less “use it” and more “add more things to use skills on”</a:t>
            </a:r>
          </a:p>
        </p:txBody>
      </p:sp>
    </p:spTree>
    <p:extLst>
      <p:ext uri="{BB962C8B-B14F-4D97-AF65-F5344CB8AC3E}">
        <p14:creationId xmlns:p14="http://schemas.microsoft.com/office/powerpoint/2010/main" val="535240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87E3D-DE56-CF2C-7E3E-A12305FBC087}"/>
              </a:ext>
            </a:extLst>
          </p:cNvPr>
          <p:cNvSpPr>
            <a:spLocks noGrp="1"/>
          </p:cNvSpPr>
          <p:nvPr>
            <p:ph type="title"/>
          </p:nvPr>
        </p:nvSpPr>
        <p:spPr/>
        <p:txBody>
          <a:bodyPr/>
          <a:lstStyle/>
          <a:p>
            <a:r>
              <a:rPr lang="en-US"/>
              <a:t>Club: star-trek club</a:t>
            </a:r>
          </a:p>
        </p:txBody>
      </p:sp>
      <p:sp>
        <p:nvSpPr>
          <p:cNvPr id="3" name="Content Placeholder 2">
            <a:extLst>
              <a:ext uri="{FF2B5EF4-FFF2-40B4-BE49-F238E27FC236}">
                <a16:creationId xmlns:a16="http://schemas.microsoft.com/office/drawing/2014/main" id="{08DBE7FE-2E19-A9FF-90F3-B8B62D9B4FCB}"/>
              </a:ext>
            </a:extLst>
          </p:cNvPr>
          <p:cNvSpPr>
            <a:spLocks noGrp="1"/>
          </p:cNvSpPr>
          <p:nvPr>
            <p:ph idx="1"/>
          </p:nvPr>
        </p:nvSpPr>
        <p:spPr/>
        <p:txBody>
          <a:bodyPr/>
          <a:lstStyle/>
          <a:p>
            <a:pPr marL="0" indent="0">
              <a:buNone/>
            </a:pPr>
            <a:r>
              <a:rPr lang="en-US"/>
              <a:t>Well, while there where many good </a:t>
            </a:r>
            <a:r>
              <a:rPr lang="en-US" err="1"/>
              <a:t>memorys</a:t>
            </a:r>
            <a:r>
              <a:rPr lang="en-US"/>
              <a:t>, I think one of my favorites had to have been some of the discussions we had about Data, specifically the fact that he does have emotions, contrary to his own statments</a:t>
            </a:r>
          </a:p>
        </p:txBody>
      </p:sp>
    </p:spTree>
    <p:extLst>
      <p:ext uri="{BB962C8B-B14F-4D97-AF65-F5344CB8AC3E}">
        <p14:creationId xmlns:p14="http://schemas.microsoft.com/office/powerpoint/2010/main" val="1829906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3B13D-4EA4-72D0-C584-F7E4962CE06F}"/>
              </a:ext>
            </a:extLst>
          </p:cNvPr>
          <p:cNvSpPr>
            <a:spLocks noGrp="1"/>
          </p:cNvSpPr>
          <p:nvPr>
            <p:ph type="title"/>
          </p:nvPr>
        </p:nvSpPr>
        <p:spPr/>
        <p:txBody>
          <a:bodyPr/>
          <a:lstStyle/>
          <a:p>
            <a:r>
              <a:rPr lang="en-US"/>
              <a:t>Favorite memory</a:t>
            </a:r>
          </a:p>
        </p:txBody>
      </p:sp>
      <p:sp>
        <p:nvSpPr>
          <p:cNvPr id="3" name="Content Placeholder 2">
            <a:extLst>
              <a:ext uri="{FF2B5EF4-FFF2-40B4-BE49-F238E27FC236}">
                <a16:creationId xmlns:a16="http://schemas.microsoft.com/office/drawing/2014/main" id="{BD770F2A-2830-597A-D03F-334F7AD6AE4C}"/>
              </a:ext>
            </a:extLst>
          </p:cNvPr>
          <p:cNvSpPr>
            <a:spLocks noGrp="1"/>
          </p:cNvSpPr>
          <p:nvPr>
            <p:ph idx="1"/>
          </p:nvPr>
        </p:nvSpPr>
        <p:spPr/>
        <p:txBody>
          <a:bodyPr vert="horz" lIns="91440" tIns="45720" rIns="91440" bIns="45720" rtlCol="0" anchor="t">
            <a:normAutofit/>
          </a:bodyPr>
          <a:lstStyle/>
          <a:p>
            <a:r>
              <a:rPr lang="en-US"/>
              <a:t>Well, this term wasn't that memorable, honestly. So, I'm going more with what I did that I'm most proud of.</a:t>
            </a:r>
          </a:p>
          <a:p>
            <a:pPr marL="0" indent="0">
              <a:buNone/>
            </a:pPr>
            <a:endParaRPr lang="en-US"/>
          </a:p>
          <a:p>
            <a:pPr marL="0" indent="0">
              <a:buNone/>
            </a:pPr>
            <a:r>
              <a:rPr lang="en-US"/>
              <a:t>That is my "dynamic file path" system. There's no easy way  show an image of it, but long story short basically it allows saving a file within the inside of a programs folder structure.</a:t>
            </a:r>
          </a:p>
          <a:p>
            <a:pPr marL="0" indent="0">
              <a:buNone/>
            </a:pPr>
            <a:r>
              <a:rPr lang="en-US"/>
              <a:t> </a:t>
            </a:r>
          </a:p>
        </p:txBody>
      </p:sp>
    </p:spTree>
    <p:extLst>
      <p:ext uri="{BB962C8B-B14F-4D97-AF65-F5344CB8AC3E}">
        <p14:creationId xmlns:p14="http://schemas.microsoft.com/office/powerpoint/2010/main" val="394541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BD51B22-6035-47AA-F096-DF50E1293D3E}"/>
              </a:ext>
            </a:extLst>
          </p:cNvPr>
          <p:cNvSpPr/>
          <p:nvPr/>
        </p:nvSpPr>
        <p:spPr>
          <a:xfrm>
            <a:off x="0" y="0"/>
            <a:ext cx="12192000" cy="6858000"/>
          </a:xfrm>
          <a:prstGeom prst="rect">
            <a:avLst/>
          </a:prstGeom>
          <a:solidFill>
            <a:srgbClr val="1070A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blue screen with a qr code&#10;&#10;AI-generated content may be incorrect.">
            <a:extLst>
              <a:ext uri="{FF2B5EF4-FFF2-40B4-BE49-F238E27FC236}">
                <a16:creationId xmlns:a16="http://schemas.microsoft.com/office/drawing/2014/main" id="{093AC10B-ECC1-A72C-BD4E-BE5469028DD3}"/>
              </a:ext>
            </a:extLst>
          </p:cNvPr>
          <p:cNvPicPr>
            <a:picLocks noChangeAspect="1"/>
          </p:cNvPicPr>
          <p:nvPr/>
        </p:nvPicPr>
        <p:blipFill>
          <a:blip r:embed="rId2"/>
          <a:stretch>
            <a:fillRect/>
          </a:stretch>
        </p:blipFill>
        <p:spPr>
          <a:xfrm>
            <a:off x="1593440" y="1298191"/>
            <a:ext cx="5324442" cy="3670464"/>
          </a:xfrm>
          <a:prstGeom prst="rect">
            <a:avLst/>
          </a:prstGeom>
        </p:spPr>
      </p:pic>
    </p:spTree>
    <p:extLst>
      <p:ext uri="{BB962C8B-B14F-4D97-AF65-F5344CB8AC3E}">
        <p14:creationId xmlns:p14="http://schemas.microsoft.com/office/powerpoint/2010/main" val="3833004409"/>
      </p:ext>
    </p:extLst>
  </p:cSld>
  <p:clrMapOvr>
    <a:masterClrMapping/>
  </p:clrMapOvr>
  <p:transition advClick="0"/>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TextBox"/>
          <p:cNvSpPr txBox="1"/>
          <p:nvPr/>
        </p:nvSpPr>
        <p:spPr>
          <a:xfrm>
            <a:off x="457200" y="304800"/>
            <a:ext cx="11277600" cy="6248400"/>
          </a:xfrm>
          <a:prstGeom prst="rect">
            <a:avLst/>
          </a:prstGeom>
          <a:noFill/>
        </p:spPr>
        <p:txBody>
          <a:bodyPr wrap="square" rtlCol="0">
            <a:normAutofit/>
          </a:bodyPr>
          <a:lstStyle/>
          <a:p>
            <a:r>
              <a:rPr lang="en-US" sz="1400" b="1" dirty="0"/>
              <a:t>VALIDATION NOTES — context for a future fix (nothing has been fixed yet)</a:t>
            </a:r>
          </a:p>
          <a:p>
            <a:endParaRPr lang="en-US" sz="700" dirty="0"/>
          </a:p>
          <a:p>
            <a:r>
              <a:rPr lang="en-US" sz="1050" b="1" dirty="0"/>
              <a:t>ERROR (verbatim from packer): </a:t>
            </a:r>
            <a:r>
              <a:rPr lang="en-US" sz="1050" dirty="0"/>
              <a:t>ppt/slides/slide_104_C9102F9E.xml — Element '{http://schemas.openxmlformats.org/presentationml/2006/main}contentPart': Character content is not allowed, because the content type is empty.</a:t>
            </a:r>
          </a:p>
          <a:p>
            <a:endParaRPr lang="en-US" sz="700" dirty="0"/>
          </a:p>
          <a:p>
            <a:r>
              <a:rPr lang="en-US" sz="1050" b="1" dirty="0"/>
              <a:t>ROOT CAUSE: </a:t>
            </a:r>
            <a:r>
              <a:rPr lang="en-US" sz="1050" dirty="0"/>
              <a:t>Visible slide 4 contains a &lt;p:contentPart&gt; element (a digital-ink annotation). The OOXML schema the validator uses declares p:contentPart as an EMPTY content type, so it permits no character data at all. When the .pptx is unpacked, the XML is pretty-printed, which inserts newline + indentation whitespace BETWEEN the contentPart's child tags. That whitespace counts as "character content" inside an element the schema says must be empty, so validation fails. This is a cosmetic schema-strictness quirk caused by pretty-printing, NOT real corruption — PowerPoint opens the file normally. The deck was therefore packed with --skip-validation.</a:t>
            </a:r>
          </a:p>
          <a:p>
            <a:endParaRPr lang="en-US" sz="700" dirty="0"/>
          </a:p>
          <a:p>
            <a:r>
              <a:rPr lang="en-US" sz="1050" b="1" dirty="0"/>
              <a:t>AFFECTED PART: </a:t>
            </a:r>
            <a:r>
              <a:rPr lang="en-US" sz="1050" dirty="0"/>
              <a:t>ppt/slides/slide_104_C9102F9E.xml (visible slide 4); the offending node is the &lt;p:contentPart ... r:id="rId2"&gt; block.</a:t>
            </a:r>
          </a:p>
          <a:p>
            <a:endParaRPr lang="en-US" sz="700" dirty="0"/>
          </a:p>
          <a:p>
            <a:r>
              <a:rPr lang="en-US" sz="1050" b="1" dirty="0"/>
              <a:t>POSSIBLE FIXES (pick one):</a:t>
            </a:r>
          </a:p>
          <a:p>
            <a:r>
              <a:rPr lang="en-US" sz="1050" dirty="0"/>
              <a:t>1. Minify just the contentPart element so no whitespace text nodes sit between its child tags.</a:t>
            </a:r>
          </a:p>
          <a:p>
            <a:r>
              <a:rPr lang="en-US" sz="1050" dirty="0"/>
              <a:t>2. Delete the contentPart, its rId2 relationship, and ppt/ink/ink_104_C9102F9E.xml if the ink stroke is unwanted.</a:t>
            </a:r>
          </a:p>
          <a:p>
            <a:r>
              <a:rPr lang="en-US" sz="1050" dirty="0"/>
              <a:t>3. Leave as-is and keep packing with --skip-validation (the file is valid for PowerPoint).</a:t>
            </a:r>
          </a:p>
          <a:p>
            <a:endParaRPr lang="en-US" sz="700" dirty="0"/>
          </a:p>
          <a:p>
            <a:r>
              <a:rPr lang="en-US" sz="1050" b="1" dirty="0"/>
              <a:t>THE ANNOTATION ("that annotation thing"):</a:t>
            </a:r>
          </a:p>
          <a:p>
            <a:r>
              <a:rPr lang="en-US" sz="1050" dirty="0"/>
              <a:t>- Type: digital ink / pen stroke (InkML), surfaced as &lt;p:contentPart name="Ink 3"&gt; on slide 4.</a:t>
            </a:r>
          </a:p>
          <a:p>
            <a:r>
              <a:rPr lang="en-US" sz="1050" dirty="0"/>
              <a:t>- Ink data file: ppt/ink/ink_104_C9102F9E.xml; drawn 2026-06-15T16:24:39 with a 0.035 cm pen.</a:t>
            </a:r>
          </a:p>
          <a:p>
            <a:r>
              <a:rPr lang="en-US" sz="1050" dirty="0"/>
              <a:t>- Geometry on slide: offset x=1133175 y=3095550 EMU, size 360x360 EMU (~0.0004 in) — effectively a single dot.</a:t>
            </a:r>
          </a:p>
          <a:p>
            <a:r>
              <a:rPr lang="en-US" sz="1050" dirty="0"/>
              <a:t>- Trace contents (verbatim): 0 0 24575,'0'0'-8191 — one point, i.e. an accidental tap/dot, not a meaningful drawing.</a:t>
            </a:r>
          </a:p>
        </p:txBody>
      </p:sp>
    </p:spTree>
  </p:cSld>
  <p:clrMapOvr>
    <a:masterClrMapping/>
  </p:clrMapOvr>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Vapor Trail</Template>
  <Application>Microsoft Office PowerPoint</Application>
  <PresentationFormat>Widescreen</PresentationFormat>
  <Slides>7</Slides>
  <Notes>3</Notes>
  <HiddenSlides>0</HiddenSlide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Vapor Trail</vt:lpstr>
      <vt:lpstr>Charlie’s Spring Term Presentation</vt:lpstr>
      <vt:lpstr>Tech: Advanced app-dev</vt:lpstr>
      <vt:lpstr>Core: Community</vt:lpstr>
      <vt:lpstr>Club: star-trek club</vt:lpstr>
      <vt:lpstr>Favorite memory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Charlie Hatch</dc:creator>
  <cp:revision>8</cp:revision>
  <dcterms:created xsi:type="dcterms:W3CDTF">2026-06-10T15:46:05Z</dcterms:created>
  <dcterms:modified xsi:type="dcterms:W3CDTF">2026-06-22T16:40:27Z</dcterms:modified>
</cp:coreProperties>
</file>